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16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1F1B16"/>
                </a:solidFill>
                <a:latin typeface="Georgia"/>
              </a:rPr>
              <a:t>US autism prevalence — per 1,000 children, age 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1,000 US children diagnosed with ASD</c:v>
                </c:pt>
              </c:strCache>
            </c:strRef>
          </c:tx>
          <c:spPr>
            <a:solidFill>
              <a:srgbClr val="5E7C5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4403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1992</c:v>
                  </c:pt>
                  <c:pt idx="1">
                    <c:v>2000</c:v>
                  </c:pt>
                  <c:pt idx="2">
                    <c:v>2010</c:v>
                  </c:pt>
                  <c:pt idx="3">
                    <c:v>2018</c:v>
                  </c:pt>
                  <c:pt idx="4">
                    <c:v>2020</c:v>
                  </c:pt>
                  <c:pt idx="5">
                    <c:v>2022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6.7</c:v>
                </c:pt>
                <c:pt idx="1">
                  <c:v>6.7</c:v>
                </c:pt>
                <c:pt idx="2">
                  <c:v>14.7</c:v>
                </c:pt>
                <c:pt idx="3">
                  <c:v>22.7</c:v>
                </c:pt>
                <c:pt idx="4">
                  <c:v>27.8</c:v>
                </c:pt>
                <c:pt idx="5">
                  <c:v>32.3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44403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1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7F4"/>
        </a:solidFill>
        <a:ln>
          <a:noFill/>
        </a:ln>
        <a:effectLst/>
      </c:spPr>
    </c:plotArea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adult brain volume</c:v>
                </c:pt>
              </c:strCache>
            </c:strRef>
          </c:tx>
          <c:spPr>
            <a:solidFill>
              <a:srgbClr val="5E7C52"/>
            </a:solidFill>
            <a:ln w="38100" cap="flat">
              <a:solidFill>
                <a:srgbClr val="5E7C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E7C52"/>
              </a:solidFill>
              <a:ln w="9525" cap="flat">
                <a:solidFill>
                  <a:srgbClr val="5E7C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Birth</c:v>
                  </c:pt>
                  <c:pt idx="1">
                    <c:v>1 yr</c:v>
                  </c:pt>
                  <c:pt idx="2">
                    <c:v>2 yr</c:v>
                  </c:pt>
                  <c:pt idx="3">
                    <c:v>5 yr</c:v>
                  </c:pt>
                  <c:pt idx="4">
                    <c:v>10 yr</c:v>
                  </c:pt>
                  <c:pt idx="5">
                    <c:v>Adult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60</c:v>
                </c:pt>
                <c:pt idx="2">
                  <c:v>75</c:v>
                </c:pt>
                <c:pt idx="3">
                  <c:v>90</c:v>
                </c:pt>
                <c:pt idx="4">
                  <c:v>95</c:v>
                </c:pt>
                <c:pt idx="5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1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7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1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7F4"/>
        </a:solidFill>
        <a:ln>
          <a:noFill/>
        </a:ln>
        <a:effectLst/>
      </c:spPr>
    </c:plotArea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5E7C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1B1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Reaction Tap</c:v>
                  </c:pt>
                  <c:pt idx="1">
                    <c:v>Accuracy Tap</c:v>
                  </c:pt>
                  <c:pt idx="2">
                    <c:v>Long Press</c:v>
                  </c:pt>
                  <c:pt idx="3">
                    <c:v>Button Sizes</c:v>
                  </c:pt>
                  <c:pt idx="4">
                    <c:v>Scroll Test</c:v>
                  </c:pt>
                  <c:pt idx="5">
                    <c:v>Drag &amp; Drop</c:v>
                  </c:pt>
                  <c:pt idx="6">
                    <c:v>Image Recall</c:v>
                  </c:pt>
                  <c:pt idx="7">
                    <c:v>Symbol Matching</c:v>
                  </c:pt>
                  <c:pt idx="8">
                    <c:v>Preference 2</c:v>
                  </c:pt>
                  <c:pt idx="9">
                    <c:v>Preference 4</c:v>
                  </c:pt>
                  <c:pt idx="10">
                    <c:v>Audio Wait</c:v>
                  </c:pt>
                  <c:pt idx="11">
                    <c:v>Double Tap*</c:v>
                  </c:pt>
                  <c:pt idx="12">
                    <c:v>Scroll &amp; Find*</c:v>
                  </c:pt>
                  <c:pt idx="13">
                    <c:v>Verb–Noun*</c:v>
                  </c:pt>
                  <c:pt idx="14">
                    <c:v>V–N–Adj*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  <c:pt idx="5">
                  <c:v>3</c:v>
                </c:pt>
                <c:pt idx="6">
                  <c:v>10</c:v>
                </c:pt>
                <c:pt idx="7">
                  <c:v>8</c:v>
                </c:pt>
                <c:pt idx="8">
                  <c:v>10</c:v>
                </c:pt>
                <c:pt idx="9">
                  <c:v>9</c:v>
                </c:pt>
                <c:pt idx="10">
                  <c:v>10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1B1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7E3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871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7F4"/>
        </a:solidFill>
        <a:ln>
          <a:noFill/>
        </a:ln>
        <a:effectLst/>
      </c:spPr>
    </c:plotArea>
    <c:plotVisOnly val="1"/>
    <c:dispBlanksAs val="span"/>
  </c:chart>
  <c:spPr>
    <a:solidFill>
      <a:srgbClr val="F8F7F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548640"/>
            <a:ext cx="182880" cy="18288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70164" y="580644"/>
            <a:ext cx="118872" cy="118872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62772" y="598932"/>
            <a:ext cx="82296" cy="82296"/>
          </a:xfrm>
          <a:prstGeom prst="ellipse">
            <a:avLst/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HACKCESSIBLE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Sawa.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44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tailored to autism — one person at a time.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371600" cy="0"/>
          </a:xfrm>
          <a:prstGeom prst="line">
            <a:avLst/>
          </a:prstGeom>
          <a:noFill/>
          <a:ln w="19050">
            <a:solidFill>
              <a:srgbClr val="5E7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86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 Khan University Medical School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Kenyatta University Biomedical Engineering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CIME · Aga Khan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assistive tech </a:t>
            </a:r>
            <a:pPr indent="0" marL="0">
              <a:buNone/>
            </a:pPr>
            <a:r>
              <a:rPr lang="en-US" sz="4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</a:t>
            </a:r>
            <a:pPr indent="0" marL="0">
              <a:buNone/>
            </a:pPr>
            <a:r>
              <a:rPr lang="en-US" sz="4400" i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autism</a:t>
            </a:r>
            <a:pPr indent="0" marL="0">
              <a:buNone/>
            </a:pPr>
            <a:r>
              <a:rPr lang="en-US" sz="4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but rarely </a:t>
            </a:r>
            <a:pPr indent="0" marL="0">
              <a:buNone/>
            </a:pPr>
            <a:r>
              <a:rPr lang="en-US" sz="44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</a:t>
            </a:r>
            <a:pPr indent="0" marL="0">
              <a:buNone/>
            </a:pPr>
            <a:r>
              <a:rPr lang="en-US" sz="4400" i="1" dirty="0">
                <a:solidFill>
                  <a:srgbClr val="B8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who use it.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 flips that. We test the person before we design the product.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— 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Autism in Kenya.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i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25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children may be on the spectrum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Society of Kenya estimate — ~4% of the population, roughly 2.2 million Kenyans across the spectrum.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F5EBD6"/>
          </a:solidFill>
          <a:ln w="12700">
            <a:solidFill>
              <a:srgbClr val="F5EB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boys : 1 girl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ratio in Kenya — though girls are widely under-diagnosed.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#46 globally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WHO autism-prevalence rank — yet still no national prevalence registry.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— THE NUMBERS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rapid global rise.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31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85216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children — CDC 2025, up from 1 in 36 in 2023.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5×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85216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when CDC began surveying, in cohorts born 1992.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average: ≈ 1 in 100 children.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— THE STAKES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 get lost.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0" cy="164592"/>
          </a:xfrm>
          <a:prstGeom prst="rect">
            <a:avLst/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with autism wander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elope from caregivers — four times the rate of unaffected siblings (Kennedy Krieger, NAA).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554480"/>
            <a:ext cx="2743200" cy="164592"/>
          </a:xfrm>
          <a:prstGeom prst="rect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say their own name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third of children with autism who wander cannot communicate their name, address, or phone number.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554480"/>
            <a:ext cx="2743200" cy="164592"/>
          </a:xfrm>
          <a:prstGeom prst="rect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F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 outcomes are drowning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traffic injuries (18%). Average missing time is around 41 minutes.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— THE 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developing brains.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set the stage.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and family studies put autism heritability at 70–90%. There is no single 'autism gene' — it is a polygenic condition.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writes on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Prenatal factors, prematurity, infection, and early postnatal stimulation all interact with the genetic substrate.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brains are more plastic — and more vulnerable.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Birth–5 years is the peak window for synaptic pruning, white-matter myelination, and language network formation.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volume by age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846320" y="182880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age 5, the brain is already at ~90% of adult volume — almost everything that matters is wired before primary school.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 — THE PHONE FACTOR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phones added fuel?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recent research suggests: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early-life screen exposure correlates with autism-like symptoms.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6712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cases averaged ~3.6 hours of daily screen time vs. controls in a 2024 case-control study (PMC11624908).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Japanese cohort linked age-1 screen time to age-3 autism diagnoses in boys.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9443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Heffler et al. — flagged as a possible white-matter and language-network disruption signal.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US under-2s exceed AAP screen-time limits — globally, the figure is climbing.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7216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recommends zero screens before 18–24 months; ≤1 hour/day for ages 2–5.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16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causation is unproven. Reverse causation — autistic children seeking screens — is plausible too.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tools that may have </a:t>
            </a:r>
            <a:pPr indent="0" marL="0">
              <a:buNone/>
            </a:pPr>
            <a:r>
              <a:rPr lang="en-US" sz="3800" i="1" dirty="0">
                <a:solidFill>
                  <a:srgbClr val="B8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harmed</a:t>
            </a:r>
            <a:pPr indent="0" marL="0">
              <a:buNone/>
            </a:pPr>
            <a:r>
              <a:rPr lang="en-US" sz="380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can be re-shaped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pPr indent="0" marL="0">
              <a:buNone/>
            </a:pPr>
            <a:r>
              <a:rPr lang="en-US" sz="3800" b="1" i="1" dirty="0">
                <a:solidFill>
                  <a:srgbClr val="87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</a:t>
            </a:r>
            <a:pPr indent="0" marL="0">
              <a:buNone/>
            </a:pPr>
            <a:r>
              <a:rPr lang="en-US" sz="380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we should be the ones doing it.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3840480"/>
            <a:ext cx="822960" cy="0"/>
          </a:xfrm>
          <a:prstGeom prst="line">
            <a:avLst/>
          </a:prstGeom>
          <a:noFill/>
          <a:ln w="19050">
            <a:solidFill>
              <a:srgbClr val="87A8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023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touchscreens, accelerometers, and GPS chips implicated in the rise are the cheapest, most ubiquitous assistive substrate ever built. Sawa weaponises them — for the user, not against.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87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640080" cy="0"/>
          </a:xfrm>
          <a:prstGeom prst="line">
            <a:avLst/>
          </a:prstGeom>
          <a:noFill/>
          <a:ln w="19050">
            <a:solidFill>
              <a:srgbClr val="5E7C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journey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exists, to who Arthur is, to what he can actually 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JOURNEY —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already out there.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Exchange Communication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Low-tech, durable, classroom-ready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personalised; analog-only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13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Proloquo2Go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AAC app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vocabulary, voice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$249, requires iPad, fixed 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26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TouchChat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suite for tablets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boards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curve, expensive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484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AngelSense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032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tracker for kids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6888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location, alerts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8496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only — no communication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1280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every tool is shaped by what worked for someone else's child.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JOURNEY — PRINCIPLE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test first.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2697480"/>
          </a:xfrm>
          <a:prstGeom prst="rect">
            <a:avLst/>
          </a:prstGeom>
          <a:solidFill>
            <a:srgbClr val="F3E1DC"/>
          </a:solidFill>
          <a:ln w="12700">
            <a:solidFill>
              <a:srgbClr val="F3E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literature.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 a generic interface.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Hand it to the user.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Watch them struggle.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Iterate from frustration.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adapts to the tool.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31920" cy="269748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an assessment platform.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Measure what the user can do.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Note what they can't — or won't.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the UI to those numbers.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Re-test, re-tune.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adapts to the user.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JOURNEY — THE PERSON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Arthur.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108960" cy="310896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82880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7A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87452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Arthur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 on the spectrum,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Nairobi, Kenya.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Arthur, why now.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9659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little, communicates a lot. 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responsive to visual prompts and predictable routines, frustrated by abstract menus.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phone. Rarely uses it as designed. 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in his pocket; the affordances are not for him.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Caregiver-supported, not caregiver-tethered. 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more independence, fewer reactive interventions.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JOURNEY — THE TEST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assessment platform.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AT assessment Arthur can run on any phone or tablet — measuring fine motor and cognitive ability across 13 micro-tasks, scored 0–10 each.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MOTOR — 7 tasks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023360" cy="2103120"/>
          </a:xfrm>
          <a:prstGeom prst="rect">
            <a:avLst/>
          </a:prstGeom>
          <a:solidFill>
            <a:srgbClr val="F5EBD6"/>
          </a:solidFill>
          <a:ln w="12700">
            <a:solidFill>
              <a:srgbClr val="F5E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Tap   ·   Accuracy Tap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Press   ·   Button Sizes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Test (vertical &amp; horizontal)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Tap   ·   Drag &amp; Drop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— 6 tasks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4023360" cy="2103120"/>
          </a:xfrm>
          <a:prstGeom prst="rect">
            <a:avLst/>
          </a:prstGeom>
          <a:solidFill>
            <a:srgbClr val="E2EAF0"/>
          </a:solidFill>
          <a:ln w="12700">
            <a:solidFill>
              <a:srgbClr val="E2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697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Recall   ·   Symbol Matching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(2 options)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(4 options)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Verb–Noun &amp; Verb–Noun–Adj pairing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Wait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at arthur-assessment.vercel.app · Open source · Re-runnable.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JOURNEY — THE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Arthur showed us.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017520" cy="3200400"/>
          </a:xfrm>
          <a:prstGeom prst="rect">
            <a:avLst/>
          </a:prstGeom>
          <a:solidFill>
            <a:srgbClr val="5E7C52"/>
          </a:solidFill>
          <a:ln w="12700">
            <a:solidFill>
              <a:srgbClr val="5E7C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9/10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A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smartwatch-AAC.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B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April 2026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0" y="14630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65760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Skipped — not refused on capability grounds, but a clear signal: don't impose these patterns.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JOURNEY — THE BRIDGE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scores to UI decisions.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743200" cy="164592"/>
          </a:xfrm>
          <a:prstGeom prst="rect">
            <a:avLst/>
          </a:prstGeom>
          <a:solidFill>
            <a:srgbClr val="5E7C52"/>
          </a:solidFill>
          <a:ln w="12700">
            <a:solidFill>
              <a:srgbClr val="5E7C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Tap (10/10)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Tap (10/10)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Press (10/10)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Recall (10/10)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Wait (10/10)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2377440" cy="0"/>
          </a:xfrm>
          <a:prstGeom prst="line">
            <a:avLst/>
          </a:prstGeom>
          <a:noFill/>
          <a:ln w="9525">
            <a:solidFill>
              <a:srgbClr val="E7E3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 these.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tap targets, hold-to-confirm, image-led navigation, audio cues.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508760"/>
            <a:ext cx="2743200" cy="164592"/>
          </a:xfrm>
          <a:prstGeom prst="rect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8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Matching (8/10)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Test (5/10)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(3/10)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520440"/>
            <a:ext cx="2377440" cy="0"/>
          </a:xfrm>
          <a:prstGeom prst="line">
            <a:avLst/>
          </a:prstGeom>
          <a:noFill/>
          <a:ln w="9525">
            <a:solidFill>
              <a:srgbClr val="E7E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 around them.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replaced by paged swipe. No drag-and-drop in any flow. Symbol vocabulary kept small, recognised over recalled.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508760"/>
            <a:ext cx="2743200" cy="164592"/>
          </a:xfrm>
          <a:prstGeom prst="rect">
            <a:avLst/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103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Tap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&amp; Find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Verb–Noun pairing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Verb–Noun–Adj pairing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520440"/>
            <a:ext cx="2377440" cy="0"/>
          </a:xfrm>
          <a:prstGeom prst="line">
            <a:avLst/>
          </a:prstGeom>
          <a:noFill/>
          <a:ln w="9525">
            <a:solidFill>
              <a:srgbClr val="E7E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6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impose these.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886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Single-tap interactions only. No grammatical sentence-building UI. Pre-built phrase cards instead.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640080" cy="0"/>
          </a:xfrm>
          <a:prstGeom prst="line">
            <a:avLst/>
          </a:prstGeom>
          <a:noFill/>
          <a:ln w="19050">
            <a:solidFill>
              <a:srgbClr val="C89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phones, one watch, one assessment — sharing one back-end.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OUR PRODUCTS —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Sawa is built.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0" y="228600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E7C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E7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7432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tables</a:t>
            </a:r>
            <a:endParaRPr lang="en-US" sz="9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 channels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3774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6F8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6F8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Jaki — Caregiver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→ Android APK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feed, routines,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geofence, AAC log,</a:t>
            </a:r>
            <a:endParaRPr lang="en-US" sz="10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screen-time limits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23774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Arthur — Companion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Quick-message AAC cards,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routine, SOS hold-press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246120"/>
            <a:ext cx="2377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6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8A6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M11 Smartwatch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accelerometer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breach → 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2926080"/>
            <a:ext cx="822960" cy="0"/>
          </a:xfrm>
          <a:prstGeom prst="line">
            <a:avLst/>
          </a:prstGeom>
          <a:noFill/>
          <a:ln w="25400">
            <a:solidFill>
              <a:srgbClr val="6F8FA8"/>
            </a:solidFill>
            <a:prstDash val="dash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2560320"/>
            <a:ext cx="822960" cy="-228600"/>
          </a:xfrm>
          <a:prstGeom prst="line">
            <a:avLst/>
          </a:prstGeom>
          <a:noFill/>
          <a:ln w="25400">
            <a:solidFill>
              <a:srgbClr val="C89B4A"/>
            </a:solidFill>
            <a:prstDash val="dash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3291840"/>
            <a:ext cx="822960" cy="640080"/>
          </a:xfrm>
          <a:prstGeom prst="line">
            <a:avLst/>
          </a:prstGeom>
          <a:noFill/>
          <a:ln w="25400">
            <a:solidFill>
              <a:srgbClr val="8A6E8C"/>
            </a:solidFill>
            <a:prstDash val="dash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2EFE9"/>
          </a:solidFill>
          <a:ln w="12700">
            <a:solidFill>
              <a:srgbClr val="F2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   </a:t>
            </a:r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· events · locations · notifications</a:t>
            </a:r>
            <a:pPr indent="0" marL="0">
              <a:buNone/>
            </a:pPr>
            <a:r>
              <a:rPr lang="en-US" sz="900" b="1" spc="300" kern="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REALTIME   </a:t>
            </a:r>
            <a:pPr indent="0" marL="0">
              <a:buNone/>
            </a:pPr>
            <a:r>
              <a:rPr lang="en-US" sz="900" dirty="0">
                <a:solidFill>
                  <a:srgbClr val="444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event INSERT → SOS overlay on Jaki within 2s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F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OUR PRODUCTS — CAREGIVER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Jaki — the caregiver phone.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377440" cy="3200400"/>
          </a:xfrm>
          <a:prstGeom prst="roundRect">
            <a:avLst>
              <a:gd name="adj" fmla="val 6923"/>
            </a:avLst>
          </a:prstGeom>
          <a:solidFill>
            <a:srgbClr val="E2EAF0"/>
          </a:solidFill>
          <a:ln w="19050">
            <a:solidFill>
              <a:srgbClr val="6F8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21031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19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 Jaki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— at home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770632"/>
            <a:ext cx="182880" cy="18288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43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Routine: lunch ✓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227832"/>
            <a:ext cx="182880" cy="18288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200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AAC: 'water please'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" y="36118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85032"/>
            <a:ext cx="182880" cy="182880"/>
          </a:xfrm>
          <a:prstGeom prst="ellipse">
            <a:avLst/>
          </a:prstGeom>
          <a:solidFill>
            <a:srgbClr val="D9D4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enter: home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406908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142232"/>
            <a:ext cx="182880" cy="182880"/>
          </a:xfrm>
          <a:prstGeom prst="ellipse">
            <a:avLst/>
          </a:prstGeom>
          <a:solidFill>
            <a:srgbClr val="D9D4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1148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time 23 min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Jaki sees &amp; controls: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0" y="2121408"/>
            <a:ext cx="91440" cy="91440"/>
          </a:xfrm>
          <a:prstGeom prst="ellipse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2258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of Arthur's actions, routine progress, AAC messages, location events.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2624328"/>
            <a:ext cx="91440" cy="91440"/>
          </a:xfrm>
          <a:prstGeom prst="ellipse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builder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2761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Drag-free, swipe-only routine editor — Arthur's phone reflects updates instantly.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127248"/>
            <a:ext cx="91440" cy="91440"/>
          </a:xfrm>
          <a:prstGeom prst="ellipse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Safe-zone map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0" y="3264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around home, school, therapy. Breach triggers SOS overlay.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3630168"/>
            <a:ext cx="91440" cy="91440"/>
          </a:xfrm>
          <a:prstGeom prst="ellipse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3520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Screen-time limits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0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Per-app caps, with positive nudges rather than hard locks.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4133088"/>
            <a:ext cx="91440" cy="91440"/>
          </a:xfrm>
          <a:prstGeom prst="ellipse">
            <a:avLst/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4023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log + history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4270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of what Arthur communicated and when.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OUR PRODUCTS — COMPANION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Arthur's phone.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2011680" cy="3017520"/>
          </a:xfrm>
          <a:prstGeom prst="roundRect">
            <a:avLst>
              <a:gd name="adj" fmla="val 8182"/>
            </a:avLst>
          </a:prstGeom>
          <a:solidFill>
            <a:srgbClr val="1F1B16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Hi, Arthur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423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6F8FA8"/>
          </a:solidFill>
          <a:ln w="12700">
            <a:solidFill>
              <a:srgbClr val="6F8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26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4231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926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33375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40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333756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8404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425196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97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SOS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Arthur uses: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57600" y="2121408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4-card AAC 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258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= one phrase, sent to Jaki's feed. No menus, no nesting.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2624328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761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steps, in order. Tap to mark done. Auto-advances to the next.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127248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hold-press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3264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0.8s hold sends location + alert to Jaki — paired to the watch's accelerometer trigger.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630168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520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 and weekday — no abstract calendars, no notifications stack.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4133088"/>
            <a:ext cx="91440" cy="91440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4023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Single-tap, large targets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270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validated against the assessment scores.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A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OUR PRODUCTS — WEARABLE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M11 — the smartwatch companion.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05840" y="1737360"/>
            <a:ext cx="1828800" cy="2286000"/>
          </a:xfrm>
          <a:prstGeom prst="roundRect">
            <a:avLst>
              <a:gd name="adj" fmla="val 15000"/>
            </a:avLst>
          </a:prstGeom>
          <a:solidFill>
            <a:srgbClr val="1F1B16"/>
          </a:solidFill>
          <a:ln w="25400">
            <a:solidFill>
              <a:srgbClr val="8A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9:41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8 May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29718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5E7C52"/>
          </a:solidFill>
          <a:ln w="12700">
            <a:solidFill>
              <a:srgbClr val="5E7C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safe zone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280160"/>
            <a:ext cx="457200" cy="457200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4023360"/>
            <a:ext cx="457200" cy="457200"/>
          </a:xfrm>
          <a:prstGeom prst="rect">
            <a:avLst/>
          </a:prstGeom>
          <a:solidFill>
            <a:srgbClr val="D9D4C8"/>
          </a:solidFill>
          <a:ln w="12700">
            <a:solidFill>
              <a:srgbClr val="D9D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watch, not a wristband: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121408"/>
            <a:ext cx="91440" cy="91440"/>
          </a:xfrm>
          <a:prstGeom prst="ellipse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cellular fallback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2585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location reporting. Works without the phone in range.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624328"/>
            <a:ext cx="91440" cy="91440"/>
          </a:xfrm>
          <a:prstGeom prst="ellipse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514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breach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761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Crosses a zone edge → SOS event → Jaki's phone within ~2s via Supabase Realtime.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3127248"/>
            <a:ext cx="91440" cy="91440"/>
          </a:xfrm>
          <a:prstGeom prst="ellipse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fall/run trigger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3264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movement signature triggers a check-in or SOS, no manual input needed.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630168"/>
            <a:ext cx="91440" cy="91440"/>
          </a:xfrm>
          <a:prstGeom prst="ellipse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520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Caregiver-friendly clasp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Tamper-resistant strap — addresses the most common complaint with assistive wearables.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4133088"/>
            <a:ext cx="91440" cy="91440"/>
          </a:xfrm>
          <a:prstGeom prst="ellipse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4023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for routines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4270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today's routine; vibrates at transitions.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Demo.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502920" y="3657600"/>
            <a:ext cx="822960" cy="0"/>
          </a:xfrm>
          <a:prstGeom prst="line">
            <a:avLst/>
          </a:prstGeom>
          <a:noFill/>
          <a:ln w="19050">
            <a:solidFill>
              <a:srgbClr val="C89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 opens app → Arthur sends 'water please' → SOS fires from the watch → Jaki sees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APK on Hackcessible_Pixel6 emulator + arthur.html in browser tab + Supabase dashboard.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POST-HACKCESSIBLE —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next.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023360" cy="164592"/>
          </a:xfrm>
          <a:prstGeom prst="rect">
            <a:avLst/>
          </a:prstGeom>
          <a:solidFill>
            <a:srgbClr val="5E7C52"/>
          </a:solidFill>
          <a:ln w="12700">
            <a:solidFill>
              <a:srgbClr val="5E7C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Assessment-driven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Sawa install begins with the assessment. Scores write directly into a UI config — buttons, vocab, gestures, audio cues — that the apps load on first run.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E7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Drag score &lt;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 drag interactions in any flow.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E7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 Matching ≥ 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unlock symbol-based contact dialing.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5E7C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Verb–Noun =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phrases stay pre-built, never composed.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08760"/>
            <a:ext cx="4023360" cy="164592"/>
          </a:xfrm>
          <a:prstGeom prst="rect">
            <a:avLst/>
          </a:prstGeom>
          <a:solidFill>
            <a:srgbClr val="8A6E8C"/>
          </a:solidFill>
          <a:ln w="12700">
            <a:solidFill>
              <a:srgbClr val="8A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Watch as a child-finder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that 1-in-3 nonverbal kids face: cannot say their name when found. The watch carries identity, location, and caregiver contact in one glance.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Geofence breach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Jaki + secondary contact paged in &lt;2s.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A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 badge on the dial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 finder gets caregiver phone instantly.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A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beacon (BLE)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helps recovery in low-signal areas.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91440" cy="91440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POST-HACKCESSIBLE — WHAT WE NEED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can help.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280160" cy="36576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families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18836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households in Nairobi for a 12-week field trial — caregivers + young people on the spectrum.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04872"/>
            <a:ext cx="1280160" cy="36576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23408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mentors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596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neurodevelopment specialists to validate the assessment battery against ADOS-2 / DSM-5-TR.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18104"/>
            <a:ext cx="1280160" cy="36576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63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30540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partners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310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M11-compatible watch supply chain — bulk procurement, tamper-resistant straps, eSIM provisioning.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9417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3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31336"/>
            <a:ext cx="1280160" cy="365760"/>
          </a:xfrm>
          <a:prstGeom prst="rect">
            <a:avLst/>
          </a:prstGeom>
          <a:solidFill>
            <a:srgbClr val="EAF0E4"/>
          </a:solidFill>
          <a:ln w="12700">
            <a:solidFill>
              <a:srgbClr val="EAF0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770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E7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grant for the 12-week pilot, watch fleet, and a part-time field coordinator.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87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7777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7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i="1" dirty="0">
                <a:solidFill>
                  <a:srgbClr val="1F1B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Sawa.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822960" cy="0"/>
          </a:xfrm>
          <a:prstGeom prst="line">
            <a:avLst/>
          </a:prstGeom>
          <a:noFill/>
          <a:ln w="19050">
            <a:solidFill>
              <a:srgbClr val="5E7C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collaboration of: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 Khan University Medical School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Kenyatta University Biomedical Engineering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CIME — Centre for Innovation in Medical Education, Aga Khan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" y="4558284"/>
            <a:ext cx="164592" cy="164592"/>
          </a:xfrm>
          <a:prstGeom prst="ellipse">
            <a:avLst/>
          </a:prstGeom>
          <a:solidFill>
            <a:srgbClr val="87A878"/>
          </a:solidFill>
          <a:ln w="12700">
            <a:solidFill>
              <a:srgbClr val="87A8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4585716"/>
            <a:ext cx="109728" cy="109728"/>
          </a:xfrm>
          <a:prstGeom prst="ellipse">
            <a:avLst/>
          </a:prstGeom>
          <a:solidFill>
            <a:srgbClr val="C89B4A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4604004"/>
            <a:ext cx="73152" cy="73152"/>
          </a:xfrm>
          <a:prstGeom prst="ellipse">
            <a:avLst/>
          </a:prstGeom>
          <a:solidFill>
            <a:srgbClr val="B86B5E"/>
          </a:solidFill>
          <a:ln w="12700">
            <a:solidFill>
              <a:srgbClr val="B86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5034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4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Sawa — Hackcessible 2026</dc:title>
  <dc:subject>PptxGenJS Presentation</dc:subject>
  <dc:creator>Sawa Team — AKU × KU × CIME AKU</dc:creator>
  <cp:lastModifiedBy>Sawa Team — AKU × KU × CIME AKU</cp:lastModifiedBy>
  <cp:revision>1</cp:revision>
  <dcterms:created xsi:type="dcterms:W3CDTF">2026-05-08T10:53:40Z</dcterms:created>
  <dcterms:modified xsi:type="dcterms:W3CDTF">2026-05-08T10:53:40Z</dcterms:modified>
</cp:coreProperties>
</file>